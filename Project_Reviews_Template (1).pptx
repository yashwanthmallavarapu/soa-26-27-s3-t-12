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25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25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25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25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25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25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25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25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25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25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25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8/25/2026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25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643948235"/>
              </p:ext>
            </p:extLst>
          </p:nvPr>
        </p:nvGraphicFramePr>
        <p:xfrm>
          <a:off x="8193271" y="4898509"/>
          <a:ext cx="3702050" cy="7924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K. Karthik</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 2420030432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Dr.XXXXXX</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XXXXXX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775587" y="397447"/>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BA7B12F-48E8-9D46-892C-488B7B88B914}"/>
                  </a:ext>
                </a:extLst>
              </p:cNvPr>
              <p:cNvSpPr txBox="1"/>
              <p:nvPr/>
            </p:nvSpPr>
            <p:spPr>
              <a:xfrm>
                <a:off x="1022555" y="1397675"/>
                <a:ext cx="9694606" cy="4708981"/>
              </a:xfrm>
              <a:prstGeom prst="rect">
                <a:avLst/>
              </a:prstGeom>
              <a:noFill/>
            </p:spPr>
            <p:txBody>
              <a:bodyPr wrap="square" rtlCol="0">
                <a:spAutoFit/>
              </a:bodyPr>
              <a:lstStyle/>
              <a:p>
                <a:pPr algn="just"/>
                <a:r>
                  <a:rPr lang="en-US" sz="2000" dirty="0"/>
                  <a:t>Traditional Applicant Tracking Systems (ATS) rely on static keyword matching and hard cutoffs, automatically rejecting qualified candidates due to minor phrasing discrepancies or non-standard resume formats. This creates a critical "false-negative" issue where borderline applicants scoring between </a:t>
                </a:r>
                <a14:m>
                  <m:oMath xmlns:m="http://schemas.openxmlformats.org/officeDocument/2006/math">
                    <m:r>
                      <a:rPr lang="en-US" sz="2000"/>
                      <m:t>60%</m:t>
                    </m:r>
                  </m:oMath>
                </a14:m>
                <a:r>
                  <a:rPr lang="en-US" sz="2000" dirty="0"/>
                  <a:t>and </a:t>
                </a:r>
                <a14:m>
                  <m:oMath xmlns:m="http://schemas.openxmlformats.org/officeDocument/2006/math">
                    <m:r>
                      <a:rPr lang="en-US" sz="2000"/>
                      <m:t>74%</m:t>
                    </m:r>
                  </m:oMath>
                </a14:m>
                <a:r>
                  <a:rPr lang="en-US" sz="2000" dirty="0"/>
                  <a:t>are instantly disqualified, despite possessing strong core engineering fundamentals. Furthermore, conventional platforms evaluate only claimed resume text rather than verified practical skills, offering candidates no opportunity to prove missing competencies. During mass recruitment drives, legacy monolithic architectures also suffer from high latency and scalability bottlenecks.</a:t>
                </a:r>
              </a:p>
              <a:p>
                <a:pPr algn="just"/>
                <a:r>
                  <a:rPr lang="en-US" sz="2000" dirty="0"/>
                  <a:t>Talent Pulse AI resolves this problem by implementing a cloud-native, event-driven microservices ecosystem. It replaces rigid keyword matching with historical hiring vector benchmarks and introduces the Borderline Boost Engine. This engine automatically detects borderline applicants, generates a targeted 5-minute technical micro-challenge on specific missing skills, and applies a merit-based score boost to ensure equitable, competency-driven candidate selection.</a:t>
                </a:r>
              </a:p>
            </p:txBody>
          </p:sp>
        </mc:Choice>
        <mc:Fallback>
          <p:sp>
            <p:nvSpPr>
              <p:cNvPr id="4" name="TextBox 3">
                <a:extLst>
                  <a:ext uri="{FF2B5EF4-FFF2-40B4-BE49-F238E27FC236}">
                    <a16:creationId xmlns:a16="http://schemas.microsoft.com/office/drawing/2014/main" id="{5BA7B12F-48E8-9D46-892C-488B7B88B914}"/>
                  </a:ext>
                </a:extLst>
              </p:cNvPr>
              <p:cNvSpPr txBox="1">
                <a:spLocks noRot="1" noChangeAspect="1" noMove="1" noResize="1" noEditPoints="1" noAdjustHandles="1" noChangeArrowheads="1" noChangeShapeType="1" noTextEdit="1"/>
              </p:cNvSpPr>
              <p:nvPr/>
            </p:nvSpPr>
            <p:spPr>
              <a:xfrm>
                <a:off x="1022555" y="1397675"/>
                <a:ext cx="9694606" cy="4708981"/>
              </a:xfrm>
              <a:prstGeom prst="rect">
                <a:avLst/>
              </a:prstGeom>
              <a:blipFill>
                <a:blip r:embed="rId3"/>
                <a:stretch>
                  <a:fillRect l="-692" t="-647" r="-629" b="-1294"/>
                </a:stretch>
              </a:blipFill>
            </p:spPr>
            <p:txBody>
              <a:bodyPr/>
              <a:lstStyle/>
              <a:p>
                <a:r>
                  <a:rPr lang="en-US">
                    <a:noFill/>
                  </a:rPr>
                  <a:t> </a:t>
                </a:r>
              </a:p>
            </p:txBody>
          </p:sp>
        </mc:Fallback>
      </mc:AlternateContent>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08F8BDE-3C38-C824-71B1-6FCBF1B30153}"/>
              </a:ext>
            </a:extLst>
          </p:cNvPr>
          <p:cNvSpPr txBox="1"/>
          <p:nvPr/>
        </p:nvSpPr>
        <p:spPr>
          <a:xfrm>
            <a:off x="230896" y="2052133"/>
            <a:ext cx="11833285" cy="3754874"/>
          </a:xfrm>
          <a:prstGeom prst="rect">
            <a:avLst/>
          </a:prstGeom>
          <a:noFill/>
        </p:spPr>
        <p:txBody>
          <a:bodyPr wrap="square" rtlCol="0">
            <a:spAutoFit/>
          </a:bodyPr>
          <a:lstStyle/>
          <a:p>
            <a:pPr marL="285750" indent="-285750">
              <a:buFont typeface="Arial" panose="020B0604020202020204" pitchFamily="34" charset="0"/>
              <a:buChar char="•"/>
            </a:pPr>
            <a:r>
              <a:rPr lang="en-US" sz="2000" dirty="0"/>
              <a:t>Build a smart resume scanner that understands the actual meaning of words and compares candidates to</a:t>
            </a:r>
          </a:p>
          <a:p>
            <a:pPr algn="just"/>
            <a:r>
              <a:rPr lang="en-US" sz="2000" dirty="0"/>
              <a:t>       past successful hires, instead of just searching for exact keywords.</a:t>
            </a:r>
          </a:p>
          <a:p>
            <a:pPr marL="285750" lvl="0" indent="-285750">
              <a:buFont typeface="Arial" panose="020B0604020202020204" pitchFamily="34" charset="0"/>
              <a:buChar char="•"/>
            </a:pPr>
            <a:r>
              <a:rPr lang="en-US" sz="2000" dirty="0"/>
              <a:t>Automatically catch candidates who are very close to passing (scoring between </a:t>
            </a:r>
            <a:r>
              <a:rPr lang="en-US" sz="2000" b="1" dirty="0"/>
              <a:t>60% and 74%</a:t>
            </a:r>
            <a:r>
              <a:rPr lang="en-US" sz="2000" dirty="0"/>
              <a:t>).</a:t>
            </a:r>
          </a:p>
          <a:p>
            <a:pPr lvl="0"/>
            <a:r>
              <a:rPr lang="en-US" sz="2000" dirty="0"/>
              <a:t>       Find the exact skills they are missing on their resume</a:t>
            </a:r>
          </a:p>
          <a:p>
            <a:pPr marL="285750" lvl="0" indent="-285750">
              <a:buFont typeface="Arial" panose="020B0604020202020204" pitchFamily="34" charset="0"/>
              <a:buChar char="•"/>
            </a:pPr>
            <a:r>
              <a:rPr lang="en-US" sz="2000" dirty="0"/>
              <a:t>Automatically create a 3-question, 5-minute technical quiz focused only on the candidate's missing skills.</a:t>
            </a:r>
          </a:p>
          <a:p>
            <a:pPr marL="285750" lvl="0" indent="-285750">
              <a:buFont typeface="Arial" panose="020B0604020202020204" pitchFamily="34" charset="0"/>
              <a:buChar char="•"/>
            </a:pPr>
            <a:r>
              <a:rPr lang="en-US" sz="2000" dirty="0"/>
              <a:t>Auto-grade the answers immediately and give the candidate a score boost of up to </a:t>
            </a:r>
            <a:r>
              <a:rPr lang="en-US" sz="2000" b="1" dirty="0"/>
              <a:t>15%</a:t>
            </a:r>
            <a:r>
              <a:rPr lang="en-US" sz="2000" dirty="0"/>
              <a:t> if they perform well.</a:t>
            </a:r>
          </a:p>
          <a:p>
            <a:pPr marL="285750" lvl="0" indent="-285750">
              <a:buFont typeface="Arial" panose="020B0604020202020204" pitchFamily="34" charset="0"/>
              <a:buChar char="•"/>
            </a:pPr>
            <a:r>
              <a:rPr lang="en-US" sz="2000" dirty="0"/>
              <a:t>Automatically email candidates their special 5-minute test links and notify recruiters instantly when a candidate qualifies for an interview.</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510879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Hilal et. al.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3</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t>
                      </a:r>
                    </a:p>
                  </a:txBody>
                  <a:tcPr/>
                </a:tc>
                <a:tc>
                  <a:txBody>
                    <a:bodyPr/>
                    <a:lstStyle/>
                    <a:p>
                      <a:r>
                        <a:rPr lang="en-IN"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Intelligent Epileptic Seizure Detection and Classification Model Using Optimal Deep Canonical Sparse Autoencoder,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Biology, 2022-mdpi</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Coyote optimization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(COA) for feature selection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Krill herd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(KHA) for parameter tuning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intelligent deep canonical sparse autoencoder-based epileptic seizure detection and classification model using EEG signals.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It achieves a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maximum</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accuracy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of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98.67%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98.73%</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under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binary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multi-classification,</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respectively.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paper does not mention the specific limitations of the proposed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DCSAE-ESDC </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technique or the experimental analysis conducted using the benchmark epileptic seizure dataset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0EC4857-4DA6-F0C9-D6F1-F9FFDADFB498}"/>
                  </a:ext>
                </a:extLst>
              </p:cNvPr>
              <p:cNvSpPr txBox="1"/>
              <p:nvPr/>
            </p:nvSpPr>
            <p:spPr>
              <a:xfrm>
                <a:off x="297885" y="2038735"/>
                <a:ext cx="12087668" cy="2215991"/>
              </a:xfrm>
              <a:prstGeom prst="rect">
                <a:avLst/>
              </a:prstGeom>
              <a:noFill/>
            </p:spPr>
            <p:txBody>
              <a:bodyPr wrap="none" rtlCol="0">
                <a:spAutoFit/>
              </a:bodyPr>
              <a:lstStyle/>
              <a:p>
                <a:pPr lvl="0"/>
                <a:r>
                  <a:rPr lang="en-US" sz="2000" b="1" dirty="0"/>
                  <a:t>Existing Limitation:</a:t>
                </a:r>
                <a:r>
                  <a:rPr lang="en-US" sz="2000" dirty="0"/>
                  <a:t> Traditional workflows apply a hard binary threshold (e.g., &lt; 75% = Automatic Rejection). </a:t>
                </a:r>
              </a:p>
              <a:p>
                <a:pPr lvl="0"/>
                <a:r>
                  <a:rPr lang="en-US" sz="2000" dirty="0"/>
                  <a:t>A candidate scoring </a:t>
                </a:r>
                <a:r>
                  <a:rPr lang="en-US" sz="2000" b="1" dirty="0"/>
                  <a:t>74%</a:t>
                </a:r>
                <a:r>
                  <a:rPr lang="en-US" sz="2000" dirty="0"/>
                  <a:t> is treated identically to someone scoring </a:t>
                </a:r>
                <a:r>
                  <a:rPr lang="en-US" sz="2000" b="1" dirty="0"/>
                  <a:t>20%</a:t>
                </a:r>
                <a:r>
                  <a:rPr lang="en-US" sz="2000" dirty="0"/>
                  <a:t>.</a:t>
                </a:r>
              </a:p>
              <a:p>
                <a:pPr lvl="0"/>
                <a:r>
                  <a:rPr lang="en-US" sz="2000" b="1" dirty="0"/>
                  <a:t>The Gap:</a:t>
                </a:r>
                <a:r>
                  <a:rPr lang="en-US" sz="2000" dirty="0"/>
                  <a:t> There is no intermediate assessment layer to salvage borderline applicants</a:t>
                </a:r>
                <a:r>
                  <a:rPr lang="en-US" sz="2000" b="1" dirty="0"/>
                  <a:t> (</a:t>
                </a:r>
                <a14:m>
                  <m:oMath xmlns:m="http://schemas.openxmlformats.org/officeDocument/2006/math">
                    <m:r>
                      <a:rPr lang="en-US" sz="2000"/>
                      <m:t>60%−74%</m:t>
                    </m:r>
                  </m:oMath>
                </a14:m>
                <a:r>
                  <a:rPr lang="en-US" sz="2000" b="1" dirty="0"/>
                  <a:t>)</a:t>
                </a:r>
                <a:r>
                  <a:rPr lang="en-US" sz="2000" dirty="0"/>
                  <a:t> who</a:t>
                </a:r>
              </a:p>
              <a:p>
                <a:pPr lvl="0"/>
                <a:r>
                  <a:rPr lang="en-US" sz="2000" dirty="0"/>
                  <a:t>Have strong core fundamentals but minor resume-building deficiencies.</a:t>
                </a:r>
              </a:p>
              <a:p>
                <a:pPr lvl="0"/>
                <a:r>
                  <a:rPr lang="en-US" sz="2000" b="1" dirty="0"/>
                  <a:t>Talent Pulse AI Resolution:</a:t>
                </a:r>
                <a:r>
                  <a:rPr lang="en-US" sz="2000" dirty="0"/>
                  <a:t> Introduces a dedicated Borderline Detection State that isolates applicants in </a:t>
                </a:r>
              </a:p>
              <a:p>
                <a:pPr lvl="0"/>
                <a:r>
                  <a:rPr lang="en-US" sz="2000" dirty="0"/>
                  <a:t>the </a:t>
                </a:r>
                <a14:m>
                  <m:oMath xmlns:m="http://schemas.openxmlformats.org/officeDocument/2006/math">
                    <m:r>
                      <a:rPr lang="en-US" sz="2000"/>
                      <m:t>60%–74%</m:t>
                    </m:r>
                  </m:oMath>
                </a14:m>
                <a:r>
                  <a:rPr lang="en-US" sz="2000" dirty="0"/>
                  <a:t>range and automatically routes them to a merit-recovery pipeline instead of instant rejection.</a:t>
                </a:r>
              </a:p>
              <a:p>
                <a:endParaRPr lang="en-US" dirty="0"/>
              </a:p>
            </p:txBody>
          </p:sp>
        </mc:Choice>
        <mc:Fallback>
          <p:sp>
            <p:nvSpPr>
              <p:cNvPr id="2" name="TextBox 1">
                <a:extLst>
                  <a:ext uri="{FF2B5EF4-FFF2-40B4-BE49-F238E27FC236}">
                    <a16:creationId xmlns:a16="http://schemas.microsoft.com/office/drawing/2014/main" id="{80EC4857-4DA6-F0C9-D6F1-F9FFDADFB498}"/>
                  </a:ext>
                </a:extLst>
              </p:cNvPr>
              <p:cNvSpPr txBox="1">
                <a:spLocks noRot="1" noChangeAspect="1" noMove="1" noResize="1" noEditPoints="1" noAdjustHandles="1" noChangeArrowheads="1" noChangeShapeType="1" noTextEdit="1"/>
              </p:cNvSpPr>
              <p:nvPr/>
            </p:nvSpPr>
            <p:spPr>
              <a:xfrm>
                <a:off x="297885" y="2038735"/>
                <a:ext cx="12087668" cy="2215991"/>
              </a:xfrm>
              <a:prstGeom prst="rect">
                <a:avLst/>
              </a:prstGeom>
              <a:blipFill>
                <a:blip r:embed="rId3"/>
                <a:stretch>
                  <a:fillRect l="-555" t="-1374"/>
                </a:stretch>
              </a:blipFill>
            </p:spPr>
            <p:txBody>
              <a:bodyPr/>
              <a:lstStyle/>
              <a:p>
                <a:r>
                  <a:rPr lang="en-US">
                    <a:noFill/>
                  </a:rPr>
                  <a:t> </a:t>
                </a:r>
              </a:p>
            </p:txBody>
          </p:sp>
        </mc:Fallback>
      </mc:AlternateContent>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62A0875-40C5-5B43-638D-62F69F13A9E3}"/>
                  </a:ext>
                </a:extLst>
              </p:cNvPr>
              <p:cNvSpPr txBox="1"/>
              <p:nvPr/>
            </p:nvSpPr>
            <p:spPr>
              <a:xfrm>
                <a:off x="1081547" y="1857900"/>
                <a:ext cx="10618839" cy="3754874"/>
              </a:xfrm>
              <a:prstGeom prst="rect">
                <a:avLst/>
              </a:prstGeom>
              <a:noFill/>
            </p:spPr>
            <p:txBody>
              <a:bodyPr wrap="square">
                <a:spAutoFit/>
              </a:bodyPr>
              <a:lstStyle/>
              <a:p>
                <a:pPr marL="285750" indent="-285750" algn="just">
                  <a:buFont typeface="Arial" panose="020B0604020202020204" pitchFamily="34" charset="0"/>
                  <a:buChar char="•"/>
                </a:pPr>
                <a:r>
                  <a:rPr lang="en-US" sz="2000" dirty="0"/>
                  <a:t>Existing ATS platforms enforce hard, binary cutoff thresholds (e.g., </a:t>
                </a:r>
                <a:r>
                  <a:rPr lang="en-US" sz="2000" dirty="0">
                    <a:latin typeface="+mn-lt"/>
                  </a:rPr>
                  <a:t>&lt; 75% = Rejected</a:t>
                </a:r>
                <a:r>
                  <a:rPr lang="en-US" sz="2000" dirty="0"/>
                  <a:t>), permanently losing high-potential candidates due to minor resume formatting issues.</a:t>
                </a:r>
              </a:p>
              <a:p>
                <a:pPr marL="285750" indent="-285750" algn="just">
                  <a:buFont typeface="Arial" panose="020B0604020202020204" pitchFamily="34" charset="0"/>
                  <a:buChar char="•"/>
                </a:pPr>
                <a:r>
                  <a:rPr lang="en-US" sz="2000" dirty="0"/>
                  <a:t>Talent Pulse AI introduces a non-binary, adaptive evaluation state specifically for the borderline band </a:t>
                </a:r>
                <a:r>
                  <a:rPr lang="en-US" sz="2000" b="1" dirty="0"/>
                  <a:t>(</a:t>
                </a:r>
                <a14:m>
                  <m:oMath xmlns:m="http://schemas.openxmlformats.org/officeDocument/2006/math">
                    <m:r>
                      <a:rPr lang="en-US" sz="2000"/>
                      <m:t>60%≤</m:t>
                    </m:r>
                    <m:r>
                      <m:rPr>
                        <m:nor/>
                      </m:rPr>
                      <a:rPr lang="en-US" sz="2000"/>
                      <m:t>Score</m:t>
                    </m:r>
                    <m:r>
                      <a:rPr lang="en-US" sz="2000"/>
                      <m:t>&lt;75%</m:t>
                    </m:r>
                  </m:oMath>
                </a14:m>
                <a:r>
                  <a:rPr lang="en-US" sz="2000" b="1" dirty="0"/>
                  <a:t>)</a:t>
                </a:r>
                <a:r>
                  <a:rPr lang="en-US" sz="2000" dirty="0"/>
                  <a:t>. Instead of an instant rejection, the engine creates an automated merit-recovery loop where candidates can earn a calibrated boost of up to </a:t>
                </a:r>
                <a14:m>
                  <m:oMath xmlns:m="http://schemas.openxmlformats.org/officeDocument/2006/math">
                    <m:r>
                      <a:rPr lang="en-US" sz="2000"/>
                      <m:t>+15%</m:t>
                    </m:r>
                  </m:oMath>
                </a14:m>
                <a:r>
                  <a:rPr lang="en-US" sz="2000" dirty="0"/>
                  <a:t>based on actual practical competency, directly rescuing false-negative rejections.</a:t>
                </a:r>
              </a:p>
              <a:p>
                <a:pPr marL="285750" indent="-285750" algn="just">
                  <a:buFont typeface="Arial" panose="020B0604020202020204" pitchFamily="34" charset="0"/>
                  <a:buChar char="•"/>
                </a:pPr>
                <a:r>
                  <a:rPr lang="en-US" sz="2000" dirty="0"/>
                  <a:t>The platform dynamically extracts the candidate's exact missing skill vectors (e.g., missing proof of Kafka or PostgreSQL) and on-the-fly constructs a targeted 3-question, 5-minute technical micro-challenge. It tests </a:t>
                </a:r>
                <a:r>
                  <a:rPr lang="en-US" sz="2000" i="1" dirty="0"/>
                  <a:t>only</a:t>
                </a:r>
                <a:r>
                  <a:rPr lang="en-US" sz="2000" dirty="0"/>
                  <a:t> what was unverified on paper, minimizing candidate fatigue while providing immediate, tamper-resistant proof of capability.</a:t>
                </a:r>
              </a:p>
              <a:p>
                <a:endParaRPr lang="en-US" sz="2000" dirty="0"/>
              </a:p>
              <a:p>
                <a:pPr marL="285750" indent="-285750">
                  <a:buFont typeface="Arial" panose="020B0604020202020204" pitchFamily="34" charset="0"/>
                  <a:buChar char="•"/>
                </a:pPr>
                <a:endParaRPr lang="en-US" dirty="0"/>
              </a:p>
            </p:txBody>
          </p:sp>
        </mc:Choice>
        <mc:Fallback>
          <p:sp>
            <p:nvSpPr>
              <p:cNvPr id="4" name="TextBox 3">
                <a:extLst>
                  <a:ext uri="{FF2B5EF4-FFF2-40B4-BE49-F238E27FC236}">
                    <a16:creationId xmlns:a16="http://schemas.microsoft.com/office/drawing/2014/main" id="{162A0875-40C5-5B43-638D-62F69F13A9E3}"/>
                  </a:ext>
                </a:extLst>
              </p:cNvPr>
              <p:cNvSpPr txBox="1">
                <a:spLocks noRot="1" noChangeAspect="1" noMove="1" noResize="1" noEditPoints="1" noAdjustHandles="1" noChangeArrowheads="1" noChangeShapeType="1" noTextEdit="1"/>
              </p:cNvSpPr>
              <p:nvPr/>
            </p:nvSpPr>
            <p:spPr>
              <a:xfrm>
                <a:off x="1081547" y="1857900"/>
                <a:ext cx="10618839" cy="3754874"/>
              </a:xfrm>
              <a:prstGeom prst="rect">
                <a:avLst/>
              </a:prstGeom>
              <a:blipFill>
                <a:blip r:embed="rId3"/>
                <a:stretch>
                  <a:fillRect l="-517" t="-974" r="-631"/>
                </a:stretch>
              </a:blipFill>
            </p:spPr>
            <p:txBody>
              <a:bodyPr/>
              <a:lstStyle/>
              <a:p>
                <a:r>
                  <a:rPr lang="en-US">
                    <a:noFill/>
                  </a:rPr>
                  <a:t> </a:t>
                </a:r>
              </a:p>
            </p:txBody>
          </p:sp>
        </mc:Fallback>
      </mc:AlternateContent>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dirty="0">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729</Words>
  <Application>Microsoft Office PowerPoint</Application>
  <PresentationFormat>Widescreen</PresentationFormat>
  <Paragraphs>79</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Nikeleswarreddy reddy</cp:lastModifiedBy>
  <cp:revision>33</cp:revision>
  <dcterms:created xsi:type="dcterms:W3CDTF">2026-08-08T06:33:56Z</dcterms:created>
  <dcterms:modified xsi:type="dcterms:W3CDTF">2026-08-25T07:15:58Z</dcterms:modified>
</cp:coreProperties>
</file>